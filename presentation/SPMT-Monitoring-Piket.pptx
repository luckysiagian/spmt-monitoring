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DC262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Online</c:v>
                </c:pt>
                <c:pt idx="1">
                  <c:v>Warning</c:v>
                </c:pt>
                <c:pt idx="2">
                  <c:v>Offline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66</c:v>
                </c:pt>
                <c:pt idx="1">
                  <c:v>0</c:v>
                </c:pt>
                <c:pt idx="2">
                  <c:v>1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3506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pembuka. Perkenalkan diri, asal kampus (IT Del), dan tempat magang (PT Pelindo Multi Terminal / IT SPMT). Sebutkan judul project: sistem monitoring website real-time.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Beri gambaran alur presentasi: dari masalah, tujuan, cara membangun, fitur, cara kerja teknis, sampai hasil.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Tekankan: sebelum ada sistem ini, pemantauan manual &amp; reaktif. Empat masalah utama inilah yang jadi dasar pembuatan SPMT Monitoring.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Enam tujuan utama. Kaitkan tiap tujuan dengan masalah di slide sebelumnya: otomatis &amp; deteksi dini menjawab masalah pengecekan manual &amp; gangguan terlambat.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gambaran besar. Empat angka kunci: 67+ node, 4 tingkat status, real-time, 24/7. Sebutkan tumpukan teknologi singkat di bawah.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pembagian: backend Go (cepat, paralel), frontend React (interaktif), data PostgreSQL. Probe jaringan adalah inti pengecekan: DNS, ping, HTTP, SSL.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Telusuri alur kiri-ke-kanan: browser minta data via REST &amp; berlangganan WebSocket. Worker pool mem-probe target, engine memutuskan status, hub broadcast ke browser, semua disimpan ke PostgreSQL.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Enam fitur unggulan. Di tiga slide berikutnya kita tunjukkan tampilan aslinya (screenshot).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Tunjukkan layar utama. Jelaskan kartu ringkasan di atas, peta node di tengah, dan live feed di kanan yang update real-time.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Buka detail satu situs (mis. yang OFFLINE). Tunjukkan rincian berlapis: DNS, ping, HTTP, SSL — plus narasi otomatis yang menjelaskan akar masalah.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memantau 'si pemantau' sendiri. Penting: kalau jaringan node pemantau lemah, sistem tahu dan tidak asal menuduh target 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Inti logika sistem. Empat tingkat status dengan aturan &amp; ambang batas jelas (&gt;2 detik = WARNING, mengikuti '2-second rule'). Respons lambat tidak pernah jadi OFFLINE. Sorot mekanisme anti false-alarm: 3x konfirmasi sebelum OFFLINE.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Tunjukkan bahwa keputusan status itu deterministik &amp; berlapis (gate). Mudah diaudit dan diuji. Ambang 2000 ms = batas lambat (2-second rule).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Inti 'real-time': backend mem-broadcast lewat WebSocket Hub, frontend berlangganan satu koneksi global dan langsung memperbarui UI. Tidak ada polling/refresh manual.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Cerita rekayasa nyata yang menunjukkan kedalaman analisis. Masalah: situs lambat dicap mati. Tiga solusi berlapis. Ini nilai jual presentasi di depan tim teknis.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Tutup dengan capaian konkret. Doughnut chart sekadar contoh distribusi (66 online, 1 offline). Tegaskan manfaat bagi Pelindo: visibilitas, deteksi dini, keandalan.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Penutup. Ucapkan terima kasih, buka sesi tanya jawab. Siapkan jawaban untuk: kenapa Go? bagaimana real-time bekerja? bagaimana menghindari alarm palsu?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A43">
              <a:alpha val="8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0A2A43">
              <a:alpha val="62000"/>
            </a:srgbClr>
          </a:solidFill>
          <a:ln/>
        </p:spPr>
      </p:sp>
      <p:pic>
        <p:nvPicPr>
          <p:cNvPr id="4" name="Image 0" descr="D:\Kuliah IT DEL\Magang\spmt-monitoring\frontend\public\images\logos\pelind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457200"/>
            <a:ext cx="777240" cy="777240"/>
          </a:xfrm>
          <a:prstGeom prst="rect">
            <a:avLst/>
          </a:prstGeom>
        </p:spPr>
      </p:pic>
      <p:pic>
        <p:nvPicPr>
          <p:cNvPr id="5" name="Image 1" descr="D:\Kuliah IT DEL\Magang\spmt-monitoring\frontend\public\images\logos\bumn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508760" y="457200"/>
            <a:ext cx="777240" cy="777240"/>
          </a:xfrm>
          <a:prstGeom prst="rect">
            <a:avLst/>
          </a:prstGeom>
        </p:spPr>
      </p:pic>
      <p:pic>
        <p:nvPicPr>
          <p:cNvPr id="6" name="Image 2" descr="D:\Kuliah IT DEL\Magang\spmt-monitoring\frontend\public\images\logos\akhlak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468880" y="457200"/>
            <a:ext cx="777240" cy="77724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48640" y="2148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KERJA PRAKTIK / MAGANG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530352" y="2505456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SPMT Monitoring Piket</a:t>
            </a:r>
            <a:endParaRPr lang="en-US" sz="5000" dirty="0"/>
          </a:p>
        </p:txBody>
      </p:sp>
      <p:sp>
        <p:nvSpPr>
          <p:cNvPr id="9" name="Text 4"/>
          <p:cNvSpPr/>
          <p:nvPr/>
        </p:nvSpPr>
        <p:spPr>
          <a:xfrm>
            <a:off x="548640" y="3529584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Monitoring Ketersediaan Website &amp; Layanan Secara Real-Time</a:t>
            </a:r>
            <a:endParaRPr lang="en-US" sz="1800" dirty="0"/>
          </a:p>
        </p:txBody>
      </p:sp>
      <p:sp>
        <p:nvSpPr>
          <p:cNvPr id="10" name="Shape 5"/>
          <p:cNvSpPr/>
          <p:nvPr/>
        </p:nvSpPr>
        <p:spPr>
          <a:xfrm>
            <a:off x="548640" y="4480560"/>
            <a:ext cx="4297680" cy="502920"/>
          </a:xfrm>
          <a:prstGeom prst="roundRect">
            <a:avLst>
              <a:gd name="adj" fmla="val 49091"/>
            </a:avLst>
          </a:prstGeom>
          <a:solidFill>
            <a:srgbClr val="1FA8D6">
              <a:alpha val="92000"/>
            </a:srgbClr>
          </a:solidFill>
          <a:ln/>
        </p:spPr>
      </p:sp>
      <p:sp>
        <p:nvSpPr>
          <p:cNvPr id="11" name="Text 6"/>
          <p:cNvSpPr/>
          <p:nvPr/>
        </p:nvSpPr>
        <p:spPr>
          <a:xfrm>
            <a:off x="548640" y="44805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PELINDO MULTI TERMINAL  ·  IT SPMT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54864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Disusun oleh: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Lucky Siagian</a:t>
            </a:r>
            <a:pPr indent="0" marL="0">
              <a:buNone/>
            </a:pPr>
            <a:r>
              <a:rPr lang="en-US" sz="1300" dirty="0">
                <a:solidFill>
                  <a:srgbClr val="9FC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Institut Teknologi Del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Isi Presentasi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8444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4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74520"/>
            <a:ext cx="566928" cy="566928"/>
          </a:xfrm>
          <a:prstGeom prst="ellipse">
            <a:avLst/>
          </a:prstGeom>
          <a:solidFill>
            <a:srgbClr val="0A2A43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64" dirty="0"/>
          </a:p>
        </p:txBody>
      </p:sp>
      <p:sp>
        <p:nvSpPr>
          <p:cNvPr id="7" name="Text 5"/>
          <p:cNvSpPr/>
          <p:nvPr/>
        </p:nvSpPr>
        <p:spPr>
          <a:xfrm>
            <a:off x="1517904" y="1892808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 &amp; Masalah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551176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Kenapa sistem ini dibutuhkan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07408" y="1600200"/>
            <a:ext cx="358444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43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874520"/>
            <a:ext cx="566928" cy="566928"/>
          </a:xfrm>
          <a:prstGeom prst="ellipse">
            <a:avLst/>
          </a:prstGeom>
          <a:solidFill>
            <a:srgbClr val="0A2A43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64" dirty="0"/>
          </a:p>
        </p:txBody>
      </p:sp>
      <p:sp>
        <p:nvSpPr>
          <p:cNvPr id="12" name="Text 10"/>
          <p:cNvSpPr/>
          <p:nvPr/>
        </p:nvSpPr>
        <p:spPr>
          <a:xfrm>
            <a:off x="5376672" y="1892808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&amp; Manfaat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81728" y="2551176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Sasaran yang ingin dicapai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66176" y="1600200"/>
            <a:ext cx="358444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43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22208" y="1874520"/>
            <a:ext cx="566928" cy="566928"/>
          </a:xfrm>
          <a:prstGeom prst="ellipse">
            <a:avLst/>
          </a:prstGeom>
          <a:solidFill>
            <a:srgbClr val="0A2A43"/>
          </a:solidFill>
          <a:ln/>
        </p:spPr>
      </p:sp>
      <p:sp>
        <p:nvSpPr>
          <p:cNvPr id="16" name="Text 14"/>
          <p:cNvSpPr/>
          <p:nvPr/>
        </p:nvSpPr>
        <p:spPr>
          <a:xfrm>
            <a:off x="8522208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64" dirty="0"/>
          </a:p>
        </p:txBody>
      </p:sp>
      <p:sp>
        <p:nvSpPr>
          <p:cNvPr id="17" name="Text 15"/>
          <p:cNvSpPr/>
          <p:nvPr/>
        </p:nvSpPr>
        <p:spPr>
          <a:xfrm>
            <a:off x="9235440" y="1892808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&amp; Teknologi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40496" y="2551176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sistem dibangun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520440"/>
            <a:ext cx="358444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43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3794760"/>
            <a:ext cx="566928" cy="566928"/>
          </a:xfrm>
          <a:prstGeom prst="ellipse">
            <a:avLst/>
          </a:prstGeom>
          <a:solidFill>
            <a:srgbClr val="0A2A43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3794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64" dirty="0"/>
          </a:p>
        </p:txBody>
      </p:sp>
      <p:sp>
        <p:nvSpPr>
          <p:cNvPr id="22" name="Text 20"/>
          <p:cNvSpPr/>
          <p:nvPr/>
        </p:nvSpPr>
        <p:spPr>
          <a:xfrm>
            <a:off x="1517904" y="3813048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Utama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4471416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saja yang bisa dilakukan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07408" y="3520440"/>
            <a:ext cx="358444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43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3794760"/>
            <a:ext cx="566928" cy="566928"/>
          </a:xfrm>
          <a:prstGeom prst="ellipse">
            <a:avLst/>
          </a:prstGeom>
          <a:solidFill>
            <a:srgbClr val="0A2A43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3794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64" dirty="0"/>
          </a:p>
        </p:txBody>
      </p:sp>
      <p:sp>
        <p:nvSpPr>
          <p:cNvPr id="27" name="Text 25"/>
          <p:cNvSpPr/>
          <p:nvPr/>
        </p:nvSpPr>
        <p:spPr>
          <a:xfrm>
            <a:off x="5376672" y="3813048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Kerja &amp; Kode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81728" y="4471416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status &amp; real-time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266176" y="3520440"/>
            <a:ext cx="358444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43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522208" y="3794760"/>
            <a:ext cx="566928" cy="566928"/>
          </a:xfrm>
          <a:prstGeom prst="ellipse">
            <a:avLst/>
          </a:prstGeom>
          <a:solidFill>
            <a:srgbClr val="0A2A43"/>
          </a:solidFill>
          <a:ln/>
        </p:spPr>
      </p:sp>
      <p:sp>
        <p:nvSpPr>
          <p:cNvPr id="31" name="Text 29"/>
          <p:cNvSpPr/>
          <p:nvPr/>
        </p:nvSpPr>
        <p:spPr>
          <a:xfrm>
            <a:off x="8522208" y="3794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64" dirty="0"/>
          </a:p>
        </p:txBody>
      </p:sp>
      <p:sp>
        <p:nvSpPr>
          <p:cNvPr id="32" name="Text 30"/>
          <p:cNvSpPr/>
          <p:nvPr/>
        </p:nvSpPr>
        <p:spPr>
          <a:xfrm>
            <a:off x="9235440" y="3813048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&amp; Kesimpulan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540496" y="4471416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Dampak dan pembelajaran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899855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SPMT Monitoring Piket</a:t>
            </a:r>
            <a:pPr algn="r"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 yang Ingin Diselesaikan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676656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4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493776" cy="49377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88" dirty="0"/>
          </a:p>
        </p:txBody>
      </p:sp>
      <p:sp>
        <p:nvSpPr>
          <p:cNvPr id="7" name="Text 5"/>
          <p:cNvSpPr/>
          <p:nvPr/>
        </p:nvSpPr>
        <p:spPr>
          <a:xfrm>
            <a:off x="1463040" y="179222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Pengecekan manual tidak efisien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63040" y="2139696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Puluhan website &amp; layanan internal/publik Pelindo dicek satu per satu — lambat dan rawan terlewat.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676656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43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127248"/>
            <a:ext cx="493776" cy="49377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1272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188" dirty="0"/>
          </a:p>
        </p:txBody>
      </p:sp>
      <p:sp>
        <p:nvSpPr>
          <p:cNvPr id="12" name="Text 10"/>
          <p:cNvSpPr/>
          <p:nvPr/>
        </p:nvSpPr>
        <p:spPr>
          <a:xfrm>
            <a:off x="1463040" y="299923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Gangguan terlambat diketahui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463040" y="3346704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baru sadar website down setelah ada laporan pengguna, bukan dari sistem.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041648"/>
            <a:ext cx="676656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43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334256"/>
            <a:ext cx="493776" cy="49377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3342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188" dirty="0"/>
          </a:p>
        </p:txBody>
      </p:sp>
      <p:sp>
        <p:nvSpPr>
          <p:cNvPr id="17" name="Text 15"/>
          <p:cNvSpPr/>
          <p:nvPr/>
        </p:nvSpPr>
        <p:spPr>
          <a:xfrm>
            <a:off x="1463040" y="42062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visibilitas terpusat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63040" y="4553712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semua layanan tidak terlihat dalam satu layar yang ringkas dan real-time.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248656"/>
            <a:ext cx="676656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43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5541264"/>
            <a:ext cx="493776" cy="49377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54126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188" dirty="0"/>
          </a:p>
        </p:txBody>
      </p:sp>
      <p:sp>
        <p:nvSpPr>
          <p:cNvPr id="22" name="Text 20"/>
          <p:cNvSpPr/>
          <p:nvPr/>
        </p:nvSpPr>
        <p:spPr>
          <a:xfrm>
            <a:off x="1463040" y="541324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Sulit menentukan akar masalah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463040" y="5760720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ada gangguan, sulit tahu apakah masalah di DNS, jaringan, server, atau SSL.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589520" y="1627632"/>
            <a:ext cx="4050792" cy="4572000"/>
          </a:xfrm>
          <a:prstGeom prst="roundRect">
            <a:avLst>
              <a:gd name="adj" fmla="val 2257"/>
            </a:avLst>
          </a:prstGeom>
          <a:solidFill>
            <a:srgbClr val="0A2A43"/>
          </a:solidFill>
          <a:ln/>
          <a:effectLst>
            <a:outerShdw sx="100000" sy="100000" kx="0" ky="0" algn="bl" rotWithShape="0" blurRad="114300" dist="38100" dir="5400000">
              <a:srgbClr val="0A2A43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818120" y="16916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FA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8000" dirty="0"/>
          </a:p>
        </p:txBody>
      </p:sp>
      <p:sp>
        <p:nvSpPr>
          <p:cNvPr id="26" name="Text 24"/>
          <p:cNvSpPr/>
          <p:nvPr/>
        </p:nvSpPr>
        <p:spPr>
          <a:xfrm>
            <a:off x="7955280" y="274320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Layanan yang tidak terpantau sama dengan masalah yang menunggu untuk meledak.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955280" y="452628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 dibutuhkan satu sistem yang memantau otomatis, terus-menerus, dan memberi peringatan dini.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899855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SPMT Monitoring Piket</a:t>
            </a:r>
            <a:pPr algn="r"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&amp; Manfaat Sistem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84448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4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47088"/>
            <a:ext cx="530352" cy="530352"/>
          </a:xfrm>
          <a:prstGeom prst="ellipse">
            <a:avLst/>
          </a:prstGeom>
          <a:solidFill>
            <a:srgbClr val="0E5A8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470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276" dirty="0"/>
          </a:p>
        </p:txBody>
      </p:sp>
      <p:sp>
        <p:nvSpPr>
          <p:cNvPr id="7" name="Text 5"/>
          <p:cNvSpPr/>
          <p:nvPr/>
        </p:nvSpPr>
        <p:spPr>
          <a:xfrm>
            <a:off x="822960" y="250545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Pemantauan Otomatis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852928"/>
            <a:ext cx="30815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Mengecek status semua website/layanan secara berkala tanpa campur tangan manual.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07408" y="1554480"/>
            <a:ext cx="3584448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43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81728" y="1847088"/>
            <a:ext cx="530352" cy="530352"/>
          </a:xfrm>
          <a:prstGeom prst="ellipse">
            <a:avLst/>
          </a:prstGeom>
          <a:solidFill>
            <a:srgbClr val="1FA8D6"/>
          </a:solidFill>
          <a:ln/>
        </p:spPr>
      </p:sp>
      <p:sp>
        <p:nvSpPr>
          <p:cNvPr id="11" name="Text 9"/>
          <p:cNvSpPr/>
          <p:nvPr/>
        </p:nvSpPr>
        <p:spPr>
          <a:xfrm>
            <a:off x="4681728" y="18470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276" dirty="0"/>
          </a:p>
        </p:txBody>
      </p:sp>
      <p:sp>
        <p:nvSpPr>
          <p:cNvPr id="12" name="Text 10"/>
          <p:cNvSpPr/>
          <p:nvPr/>
        </p:nvSpPr>
        <p:spPr>
          <a:xfrm>
            <a:off x="4681728" y="250545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81728" y="2852928"/>
            <a:ext cx="30815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&amp; metrik tampil langsung di dashboard tanpa perlu me-refresh halaman.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66176" y="1554480"/>
            <a:ext cx="3584448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43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40496" y="1847088"/>
            <a:ext cx="530352" cy="5303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8540496" y="18470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276" dirty="0"/>
          </a:p>
        </p:txBody>
      </p:sp>
      <p:sp>
        <p:nvSpPr>
          <p:cNvPr id="17" name="Text 15"/>
          <p:cNvSpPr/>
          <p:nvPr/>
        </p:nvSpPr>
        <p:spPr>
          <a:xfrm>
            <a:off x="8540496" y="250545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Dini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40496" y="2852928"/>
            <a:ext cx="30815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Memberi peringatan begitu ada layanan bermasalah, sebelum dikeluhkan pengguna.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584448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43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224528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2245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276" dirty="0"/>
          </a:p>
        </p:txBody>
      </p:sp>
      <p:sp>
        <p:nvSpPr>
          <p:cNvPr id="22" name="Text 20"/>
          <p:cNvSpPr/>
          <p:nvPr/>
        </p:nvSpPr>
        <p:spPr>
          <a:xfrm>
            <a:off x="822960" y="488289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Diagnostik Jelas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5230368"/>
            <a:ext cx="30815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akar masalah (DNS, ping, HTTP, SSL) dalam bahasa yang mudah dipahami.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07408" y="3931920"/>
            <a:ext cx="3584448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43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81728" y="4224528"/>
            <a:ext cx="530352" cy="530352"/>
          </a:xfrm>
          <a:prstGeom prst="ellipse">
            <a:avLst/>
          </a:prstGeom>
          <a:solidFill>
            <a:srgbClr val="0E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4681728" y="42245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276" dirty="0"/>
          </a:p>
        </p:txBody>
      </p:sp>
      <p:sp>
        <p:nvSpPr>
          <p:cNvPr id="27" name="Text 25"/>
          <p:cNvSpPr/>
          <p:nvPr/>
        </p:nvSpPr>
        <p:spPr>
          <a:xfrm>
            <a:off x="4681728" y="488289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Visibilitas Terpusat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81728" y="5230368"/>
            <a:ext cx="30815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layanan terlihat dalam satu peta jaringan &amp; panel status.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66176" y="3931920"/>
            <a:ext cx="3584448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43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540496" y="4224528"/>
            <a:ext cx="530352" cy="5303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540496" y="42245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276" dirty="0"/>
          </a:p>
        </p:txBody>
      </p:sp>
      <p:sp>
        <p:nvSpPr>
          <p:cNvPr id="32" name="Text 30"/>
          <p:cNvSpPr/>
          <p:nvPr/>
        </p:nvSpPr>
        <p:spPr>
          <a:xfrm>
            <a:off x="8540496" y="488289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Riwayat &amp; SLA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540496" y="5230368"/>
            <a:ext cx="30815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Menyimpan histori untuk evaluasi keandalan (uptime / SLA) tiap layanan.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899855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SPMT Monitoring Piket</a:t>
            </a:r>
            <a:pPr algn="r"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yang Dibangun?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F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Sebuah aplikasi web yang memantau ketersediaan puluhan website &amp; layanan Pelindo secara terus-menerus, menampilkannya sebagai peta jaringan real-time, dan memberi peringatan otomatis saat terjadi gangguan.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0E3A5C"/>
          </a:solidFill>
          <a:ln w="12700">
            <a:solidFill>
              <a:srgbClr val="1645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06324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67+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Dipantau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93008" y="269748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0E3A5C"/>
          </a:solidFill>
          <a:ln w="12700">
            <a:solidFill>
              <a:srgbClr val="1645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93008" y="306324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493008" y="39776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Tingkat Status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37376" y="269748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0E3A5C"/>
          </a:solidFill>
          <a:ln w="12700">
            <a:solidFill>
              <a:srgbClr val="1645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306324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437376" y="39776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WebSocket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381744" y="269748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0E3A5C"/>
          </a:solidFill>
          <a:ln w="12700">
            <a:solidFill>
              <a:srgbClr val="1645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81744" y="306324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9381744" y="39776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Pemantauan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4892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Dibangun dengan Go (backend) + React (frontend) + PostgreSQL — ringan, cepat, dan dapat dijalankan di lingkungan internal Pelindo.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899855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SPMT Monitoring Piket</a:t>
            </a:r>
            <a:pPr algn="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TEKNOLOGI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Tumpukan Teknologi (Tech Stack)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84448" cy="4526280"/>
          </a:xfrm>
          <a:prstGeom prst="roundRect">
            <a:avLst>
              <a:gd name="adj" fmla="val 22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4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3584448" cy="603504"/>
          </a:xfrm>
          <a:prstGeom prst="roundRect">
            <a:avLst>
              <a:gd name="adj" fmla="val 13636"/>
            </a:avLst>
          </a:prstGeom>
          <a:solidFill>
            <a:srgbClr val="0E5A8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56232"/>
            <a:ext cx="3584448" cy="301752"/>
          </a:xfrm>
          <a:prstGeom prst="rect">
            <a:avLst/>
          </a:prstGeom>
          <a:solidFill>
            <a:srgbClr val="0E5A8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54480"/>
            <a:ext cx="3584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04672" y="2450592"/>
            <a:ext cx="237744" cy="237744"/>
          </a:xfrm>
          <a:prstGeom prst="ellipse">
            <a:avLst/>
          </a:prstGeom>
          <a:solidFill>
            <a:srgbClr val="0E5A8A"/>
          </a:solidFill>
          <a:ln/>
        </p:spPr>
      </p:sp>
      <p:sp>
        <p:nvSpPr>
          <p:cNvPr id="9" name="Text 7"/>
          <p:cNvSpPr/>
          <p:nvPr/>
        </p:nvSpPr>
        <p:spPr>
          <a:xfrm>
            <a:off x="1170432" y="2340864"/>
            <a:ext cx="2715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(Golang)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70432" y="2670048"/>
            <a:ext cx="2715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Bahasa utama server — cepat &amp; efisien untuk banyak proses paralel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4672" y="3621024"/>
            <a:ext cx="237744" cy="237744"/>
          </a:xfrm>
          <a:prstGeom prst="ellipse">
            <a:avLst/>
          </a:prstGeom>
          <a:solidFill>
            <a:srgbClr val="0E5A8A"/>
          </a:solidFill>
          <a:ln/>
        </p:spPr>
      </p:sp>
      <p:sp>
        <p:nvSpPr>
          <p:cNvPr id="12" name="Text 10"/>
          <p:cNvSpPr/>
          <p:nvPr/>
        </p:nvSpPr>
        <p:spPr>
          <a:xfrm>
            <a:off x="1170432" y="3511296"/>
            <a:ext cx="2715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Pool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70432" y="3840480"/>
            <a:ext cx="2715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Banyak pekerja mengecek website secara bersamaan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" y="4791456"/>
            <a:ext cx="237744" cy="237744"/>
          </a:xfrm>
          <a:prstGeom prst="ellipse">
            <a:avLst/>
          </a:prstGeom>
          <a:solidFill>
            <a:srgbClr val="0E5A8A"/>
          </a:solidFill>
          <a:ln/>
        </p:spPr>
      </p:sp>
      <p:sp>
        <p:nvSpPr>
          <p:cNvPr id="15" name="Text 13"/>
          <p:cNvSpPr/>
          <p:nvPr/>
        </p:nvSpPr>
        <p:spPr>
          <a:xfrm>
            <a:off x="1170432" y="4681728"/>
            <a:ext cx="2715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WebSocket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70432" y="5010912"/>
            <a:ext cx="2715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data + saluran real-time ke browser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07408" y="1554480"/>
            <a:ext cx="3584448" cy="4526280"/>
          </a:xfrm>
          <a:prstGeom prst="roundRect">
            <a:avLst>
              <a:gd name="adj" fmla="val 22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43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07408" y="1554480"/>
            <a:ext cx="3584448" cy="603504"/>
          </a:xfrm>
          <a:prstGeom prst="roundRect">
            <a:avLst>
              <a:gd name="adj" fmla="val 13636"/>
            </a:avLst>
          </a:prstGeom>
          <a:solidFill>
            <a:srgbClr val="1FA8D6"/>
          </a:solidFill>
          <a:ln/>
        </p:spPr>
      </p:sp>
      <p:sp>
        <p:nvSpPr>
          <p:cNvPr id="19" name="Shape 17"/>
          <p:cNvSpPr/>
          <p:nvPr/>
        </p:nvSpPr>
        <p:spPr>
          <a:xfrm>
            <a:off x="4407408" y="1856232"/>
            <a:ext cx="3584448" cy="301752"/>
          </a:xfrm>
          <a:prstGeom prst="rect">
            <a:avLst/>
          </a:prstGeom>
          <a:solidFill>
            <a:srgbClr val="1FA8D6"/>
          </a:solidFill>
          <a:ln/>
        </p:spPr>
      </p:sp>
      <p:sp>
        <p:nvSpPr>
          <p:cNvPr id="20" name="Text 18"/>
          <p:cNvSpPr/>
          <p:nvPr/>
        </p:nvSpPr>
        <p:spPr>
          <a:xfrm>
            <a:off x="4407408" y="1554480"/>
            <a:ext cx="3584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663440" y="2450592"/>
            <a:ext cx="237744" cy="237744"/>
          </a:xfrm>
          <a:prstGeom prst="ellipse">
            <a:avLst/>
          </a:prstGeom>
          <a:solidFill>
            <a:srgbClr val="1FA8D6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2340864"/>
            <a:ext cx="2715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2670048"/>
            <a:ext cx="2715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Antarmuka dashboard yang interaktif &amp; cepat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3621024"/>
            <a:ext cx="237744" cy="237744"/>
          </a:xfrm>
          <a:prstGeom prst="ellipse">
            <a:avLst/>
          </a:prstGeom>
          <a:solidFill>
            <a:srgbClr val="1FA8D6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3511296"/>
            <a:ext cx="2715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/ SVG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0" y="3840480"/>
            <a:ext cx="2715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topologi jaringan yang animatif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63440" y="4791456"/>
            <a:ext cx="237744" cy="237744"/>
          </a:xfrm>
          <a:prstGeom prst="ellipse">
            <a:avLst/>
          </a:prstGeom>
          <a:solidFill>
            <a:srgbClr val="1FA8D6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0" y="4681728"/>
            <a:ext cx="2715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 (multi-bahasa)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0" y="5010912"/>
            <a:ext cx="2715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Mendukung beberapa bahasa antarmuka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266176" y="1554480"/>
            <a:ext cx="3584448" cy="4526280"/>
          </a:xfrm>
          <a:prstGeom prst="roundRect">
            <a:avLst>
              <a:gd name="adj" fmla="val 22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43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66176" y="1554480"/>
            <a:ext cx="3584448" cy="603504"/>
          </a:xfrm>
          <a:prstGeom prst="roundRect">
            <a:avLst>
              <a:gd name="adj" fmla="val 13636"/>
            </a:avLst>
          </a:prstGeom>
          <a:solidFill>
            <a:srgbClr val="1C7293"/>
          </a:solidFill>
          <a:ln/>
        </p:spPr>
      </p:sp>
      <p:sp>
        <p:nvSpPr>
          <p:cNvPr id="32" name="Shape 30"/>
          <p:cNvSpPr/>
          <p:nvPr/>
        </p:nvSpPr>
        <p:spPr>
          <a:xfrm>
            <a:off x="8266176" y="1856232"/>
            <a:ext cx="3584448" cy="3017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3" name="Text 31"/>
          <p:cNvSpPr/>
          <p:nvPr/>
        </p:nvSpPr>
        <p:spPr>
          <a:xfrm>
            <a:off x="8266176" y="1554480"/>
            <a:ext cx="3584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INFRA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8522208" y="2450592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5" name="Text 33"/>
          <p:cNvSpPr/>
          <p:nvPr/>
        </p:nvSpPr>
        <p:spPr>
          <a:xfrm>
            <a:off x="8887968" y="2340864"/>
            <a:ext cx="2715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887968" y="2670048"/>
            <a:ext cx="2715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Penyimpanan log, insiden, riwayat status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522208" y="3621024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8" name="Text 36"/>
          <p:cNvSpPr/>
          <p:nvPr/>
        </p:nvSpPr>
        <p:spPr>
          <a:xfrm>
            <a:off x="8887968" y="3511296"/>
            <a:ext cx="2715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Jaringan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887968" y="3840480"/>
            <a:ext cx="2715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DNS, ICMP ping, HTTP, cek sertifikat SSL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522208" y="4791456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1" name="Text 39"/>
          <p:cNvSpPr/>
          <p:nvPr/>
        </p:nvSpPr>
        <p:spPr>
          <a:xfrm>
            <a:off x="8887968" y="4681728"/>
            <a:ext cx="2715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Notifikasi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887968" y="5010912"/>
            <a:ext cx="2715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Peringatan otomatis &amp; manajemen insiden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899855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SPMT Monitoring Piket</a:t>
            </a:r>
            <a:pPr algn="r"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Sistem &amp; Alur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43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41401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58368" y="2761488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CF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React</a:t>
            </a:r>
            <a:endParaRPr lang="en-US" sz="9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CF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(browser)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206240" y="1691640"/>
            <a:ext cx="4160520" cy="3566160"/>
          </a:xfrm>
          <a:prstGeom prst="roundRect">
            <a:avLst>
              <a:gd name="adj" fmla="val 2564"/>
            </a:avLst>
          </a:prstGeom>
          <a:solidFill>
            <a:srgbClr val="0A2A43"/>
          </a:solidFill>
          <a:ln/>
          <a:effectLst>
            <a:outerShdw sx="100000" sy="100000" kx="0" ky="0" algn="bl" rotWithShape="0" blurRad="114300" dist="38100" dir="5400000">
              <a:srgbClr val="0A2A43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06240" y="18288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 (Go)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2286000"/>
            <a:ext cx="1828800" cy="1051560"/>
          </a:xfrm>
          <a:prstGeom prst="roundRect">
            <a:avLst>
              <a:gd name="adj" fmla="val 6957"/>
            </a:avLst>
          </a:prstGeom>
          <a:solidFill>
            <a:srgbClr val="0E3A5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43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26280" y="241401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44568" y="2761488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CF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histori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355080" y="2286000"/>
            <a:ext cx="1828800" cy="1051560"/>
          </a:xfrm>
          <a:prstGeom prst="roundRect">
            <a:avLst>
              <a:gd name="adj" fmla="val 6957"/>
            </a:avLst>
          </a:prstGeom>
          <a:solidFill>
            <a:srgbClr val="0E3A5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43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46520" y="241401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Hub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64808" y="2761488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CF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real-time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434840" y="3520440"/>
            <a:ext cx="1828800" cy="1051560"/>
          </a:xfrm>
          <a:prstGeom prst="roundRect">
            <a:avLst>
              <a:gd name="adj" fmla="val 6957"/>
            </a:avLst>
          </a:prstGeom>
          <a:solidFill>
            <a:srgbClr val="0E3A5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43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26280" y="364845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Pool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44568" y="3995928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CF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Pengecek paralel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355080" y="3520440"/>
            <a:ext cx="1828800" cy="1051560"/>
          </a:xfrm>
          <a:prstGeom prst="roundRect">
            <a:avLst>
              <a:gd name="adj" fmla="val 6957"/>
            </a:avLst>
          </a:prstGeom>
          <a:solidFill>
            <a:srgbClr val="0E3A5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43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46520" y="364845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Engine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64808" y="3995928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CF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Tentukan status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555480" y="1783080"/>
            <a:ext cx="22402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43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646920" y="191109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Website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665208" y="2258568"/>
            <a:ext cx="2020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CF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67+ situs &amp;</a:t>
            </a:r>
            <a:endParaRPr lang="en-US" sz="9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CF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layanan Pelindo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555480" y="3840480"/>
            <a:ext cx="22402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43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646920" y="396849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665208" y="4315968"/>
            <a:ext cx="2020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CF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Log, insiden,</a:t>
            </a:r>
            <a:endParaRPr lang="en-US" sz="9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CF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riwayat status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017520" y="2834640"/>
            <a:ext cx="1188720" cy="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headEnd type="triangl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2834640" y="24505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WS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366760" y="2377440"/>
            <a:ext cx="1188720" cy="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headEnd type="triangl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8183880" y="19933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366760" y="4114800"/>
            <a:ext cx="1188720" cy="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headEnd type="triangl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8183880" y="37307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Pool mengecek tiap target (DNS → Ping → HTTP → SSL), Engine menentukan status, lalu Hub mengirimkannya ke dashboard secara langsung.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899855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SPMT Monitoring Piket</a:t>
            </a:r>
            <a:pPr algn="r"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Fitur-Fitur Utama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84448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4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28800"/>
            <a:ext cx="548640" cy="548640"/>
          </a:xfrm>
          <a:prstGeom prst="ellipse">
            <a:avLst/>
          </a:prstGeom>
          <a:solidFill>
            <a:srgbClr val="0E5A8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822960" y="2505456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Topologi Jaringan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889504"/>
            <a:ext cx="30815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 semua node sebagai jaringan animatif (mode Star / Tree / 3D).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07408" y="1554480"/>
            <a:ext cx="3584448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43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81728" y="182880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681728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4681728" y="2505456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Real-Time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81728" y="2889504"/>
            <a:ext cx="30815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/ Warning / Critical / Offline diperbarui langsung tanpa refresh.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66176" y="1554480"/>
            <a:ext cx="3584448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43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40496" y="18288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540496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8540496" y="2505456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Diagnostik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540496" y="2889504"/>
            <a:ext cx="30815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Rincian DNS, ping, HTTP, response time, TTFB, dan SSL per website.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584448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43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20624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822960" y="4882896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Notifikasi &amp; Insiden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22960" y="5266944"/>
            <a:ext cx="30815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Peringatan otomatis + pencatatan insiden saat layanan bermasalah.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07408" y="3931920"/>
            <a:ext cx="3584448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43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81728" y="4206240"/>
            <a:ext cx="548640" cy="548640"/>
          </a:xfrm>
          <a:prstGeom prst="ellipse">
            <a:avLst/>
          </a:prstGeom>
          <a:solidFill>
            <a:srgbClr val="1FA8D6"/>
          </a:solidFill>
          <a:ln/>
        </p:spPr>
      </p:sp>
      <p:sp>
        <p:nvSpPr>
          <p:cNvPr id="26" name="Text 24"/>
          <p:cNvSpPr/>
          <p:nvPr/>
        </p:nvSpPr>
        <p:spPr>
          <a:xfrm>
            <a:off x="4681728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4681728" y="4882896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Server &amp; Jaringan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681728" y="5266944"/>
            <a:ext cx="30815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Pantau CPU, RAM, throughput, dan kondisi jaringan node pemantau.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66176" y="3931920"/>
            <a:ext cx="3584448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43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540496" y="4206240"/>
            <a:ext cx="548640" cy="548640"/>
          </a:xfrm>
          <a:prstGeom prst="ellipse">
            <a:avLst/>
          </a:prstGeom>
          <a:solidFill>
            <a:srgbClr val="0E3A5C"/>
          </a:solidFill>
          <a:ln/>
        </p:spPr>
      </p:sp>
      <p:sp>
        <p:nvSpPr>
          <p:cNvPr id="31" name="Text 29"/>
          <p:cNvSpPr/>
          <p:nvPr/>
        </p:nvSpPr>
        <p:spPr>
          <a:xfrm>
            <a:off x="8540496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320" dirty="0"/>
          </a:p>
        </p:txBody>
      </p:sp>
      <p:sp>
        <p:nvSpPr>
          <p:cNvPr id="32" name="Text 30"/>
          <p:cNvSpPr/>
          <p:nvPr/>
        </p:nvSpPr>
        <p:spPr>
          <a:xfrm>
            <a:off x="8540496" y="4882896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Riwayat &amp; SLA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540496" y="5266944"/>
            <a:ext cx="30815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 histori status dan perhitungan uptime untuk evaluasi keandalan.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899855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SPMT Monitoring Piket</a:t>
            </a:r>
            <a:pPr algn="r"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TAMPILAN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Peta Topologi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7040880" cy="4617720"/>
          </a:xfrm>
          <a:prstGeom prst="roundRect">
            <a:avLst>
              <a:gd name="adj" fmla="val 1584"/>
            </a:avLst>
          </a:prstGeom>
          <a:solidFill>
            <a:srgbClr val="E8F1F8"/>
          </a:solidFill>
          <a:ln w="19050">
            <a:solidFill>
              <a:srgbClr val="1FA8D6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3749040" y="3314700"/>
            <a:ext cx="640080" cy="640080"/>
          </a:xfrm>
          <a:prstGeom prst="ellipse">
            <a:avLst/>
          </a:prstGeom>
          <a:solidFill>
            <a:srgbClr val="1FA8D6"/>
          </a:solidFill>
          <a:ln/>
        </p:spPr>
      </p:sp>
      <p:sp>
        <p:nvSpPr>
          <p:cNvPr id="6" name="Text 4"/>
          <p:cNvSpPr/>
          <p:nvPr/>
        </p:nvSpPr>
        <p:spPr>
          <a:xfrm>
            <a:off x="3749040" y="33147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540" dirty="0"/>
          </a:p>
        </p:txBody>
      </p:sp>
      <p:sp>
        <p:nvSpPr>
          <p:cNvPr id="7" name="Text 5"/>
          <p:cNvSpPr/>
          <p:nvPr/>
        </p:nvSpPr>
        <p:spPr>
          <a:xfrm>
            <a:off x="731520" y="3991356"/>
            <a:ext cx="6675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Letakkan screenshot di sini
</a:t>
            </a:r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Tampilan utama: peta jaringan + ringkasan status
</a:t>
            </a:r>
            <a:pPr algn="ctr"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presentation/screenshots/02-dashboard-topology.png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818120" y="1572768"/>
            <a:ext cx="3822192" cy="4617720"/>
          </a:xfrm>
          <a:prstGeom prst="roundRect">
            <a:avLst>
              <a:gd name="adj" fmla="val 21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43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046720" y="18105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Ditampilkan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65008" y="2368296"/>
            <a:ext cx="182880" cy="182880"/>
          </a:xfrm>
          <a:prstGeom prst="ellipse">
            <a:avLst/>
          </a:prstGeom>
          <a:solidFill>
            <a:srgbClr val="1FA8D6"/>
          </a:solidFill>
          <a:ln/>
        </p:spPr>
      </p:sp>
      <p:sp>
        <p:nvSpPr>
          <p:cNvPr id="11" name="Text 9"/>
          <p:cNvSpPr/>
          <p:nvPr/>
        </p:nvSpPr>
        <p:spPr>
          <a:xfrm>
            <a:off x="8394192" y="225856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 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Online / Critical / Offline, SLA, dan rata-rata response time.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65008" y="3136392"/>
            <a:ext cx="182880" cy="182880"/>
          </a:xfrm>
          <a:prstGeom prst="ellipse">
            <a:avLst/>
          </a:prstGeom>
          <a:solidFill>
            <a:srgbClr val="1FA8D6"/>
          </a:solidFill>
          <a:ln/>
        </p:spPr>
      </p:sp>
      <p:sp>
        <p:nvSpPr>
          <p:cNvPr id="13" name="Text 11"/>
          <p:cNvSpPr/>
          <p:nvPr/>
        </p:nvSpPr>
        <p:spPr>
          <a:xfrm>
            <a:off x="8394192" y="302666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node  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situs mengelilingi server SPMT, warna = status.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65008" y="3904488"/>
            <a:ext cx="182880" cy="182880"/>
          </a:xfrm>
          <a:prstGeom prst="ellipse">
            <a:avLst/>
          </a:prstGeom>
          <a:solidFill>
            <a:srgbClr val="1FA8D6"/>
          </a:solidFill>
          <a:ln/>
        </p:spPr>
      </p:sp>
      <p:sp>
        <p:nvSpPr>
          <p:cNvPr id="15" name="Text 13"/>
          <p:cNvSpPr/>
          <p:nvPr/>
        </p:nvSpPr>
        <p:spPr>
          <a:xfrm>
            <a:off x="8394192" y="37947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feed  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node memperbarui status secara langsung.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65008" y="4672584"/>
            <a:ext cx="182880" cy="182880"/>
          </a:xfrm>
          <a:prstGeom prst="ellipse">
            <a:avLst/>
          </a:prstGeom>
          <a:solidFill>
            <a:srgbClr val="1FA8D6"/>
          </a:solidFill>
          <a:ln/>
        </p:spPr>
      </p:sp>
      <p:sp>
        <p:nvSpPr>
          <p:cNvPr id="17" name="Text 15"/>
          <p:cNvSpPr/>
          <p:nvPr/>
        </p:nvSpPr>
        <p:spPr>
          <a:xfrm>
            <a:off x="8394192" y="4562856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tampilan  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Star, Tree, dan 3D untuk eksplorasi.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899855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SPMT Monitoring Piket</a:t>
            </a:r>
            <a:pPr algn="r"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TAMPILAN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Diagnostik Website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7040880" cy="4617720"/>
          </a:xfrm>
          <a:prstGeom prst="roundRect">
            <a:avLst>
              <a:gd name="adj" fmla="val 1584"/>
            </a:avLst>
          </a:prstGeom>
          <a:solidFill>
            <a:srgbClr val="E8F1F8"/>
          </a:solidFill>
          <a:ln w="19050">
            <a:solidFill>
              <a:srgbClr val="1FA8D6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3749040" y="3314700"/>
            <a:ext cx="640080" cy="640080"/>
          </a:xfrm>
          <a:prstGeom prst="ellipse">
            <a:avLst/>
          </a:prstGeom>
          <a:solidFill>
            <a:srgbClr val="1FA8D6"/>
          </a:solidFill>
          <a:ln/>
        </p:spPr>
      </p:sp>
      <p:sp>
        <p:nvSpPr>
          <p:cNvPr id="6" name="Text 4"/>
          <p:cNvSpPr/>
          <p:nvPr/>
        </p:nvSpPr>
        <p:spPr>
          <a:xfrm>
            <a:off x="3749040" y="33147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540" dirty="0"/>
          </a:p>
        </p:txBody>
      </p:sp>
      <p:sp>
        <p:nvSpPr>
          <p:cNvPr id="7" name="Text 5"/>
          <p:cNvSpPr/>
          <p:nvPr/>
        </p:nvSpPr>
        <p:spPr>
          <a:xfrm>
            <a:off x="731520" y="3991356"/>
            <a:ext cx="6675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Letakkan screenshot di sini
</a:t>
            </a:r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detail: kondisi lengkap satu website
</a:t>
            </a:r>
            <a:pPr algn="ctr"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presentation/screenshots/03-website-detail.png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818120" y="1572768"/>
            <a:ext cx="3822192" cy="4617720"/>
          </a:xfrm>
          <a:prstGeom prst="roundRect">
            <a:avLst>
              <a:gd name="adj" fmla="val 21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43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046720" y="18105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Ditampilkan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65008" y="2368296"/>
            <a:ext cx="182880" cy="182880"/>
          </a:xfrm>
          <a:prstGeom prst="ellipse">
            <a:avLst/>
          </a:prstGeom>
          <a:solidFill>
            <a:srgbClr val="1FA8D6"/>
          </a:solidFill>
          <a:ln/>
        </p:spPr>
      </p:sp>
      <p:sp>
        <p:nvSpPr>
          <p:cNvPr id="11" name="Text 9"/>
          <p:cNvSpPr/>
          <p:nvPr/>
        </p:nvSpPr>
        <p:spPr>
          <a:xfrm>
            <a:off x="8394192" y="225856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Health  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HTTP code, response time, TTFB.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65008" y="3136392"/>
            <a:ext cx="182880" cy="182880"/>
          </a:xfrm>
          <a:prstGeom prst="ellipse">
            <a:avLst/>
          </a:prstGeom>
          <a:solidFill>
            <a:srgbClr val="1FA8D6"/>
          </a:solidFill>
          <a:ln/>
        </p:spPr>
      </p:sp>
      <p:sp>
        <p:nvSpPr>
          <p:cNvPr id="13" name="Text 11"/>
          <p:cNvSpPr/>
          <p:nvPr/>
        </p:nvSpPr>
        <p:spPr>
          <a:xfrm>
            <a:off x="8394192" y="302666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 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ICMP ping, status &amp; waktu DNS, alamat IP.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65008" y="3904488"/>
            <a:ext cx="182880" cy="182880"/>
          </a:xfrm>
          <a:prstGeom prst="ellipse">
            <a:avLst/>
          </a:prstGeom>
          <a:solidFill>
            <a:srgbClr val="1FA8D6"/>
          </a:solidFill>
          <a:ln/>
        </p:spPr>
      </p:sp>
      <p:sp>
        <p:nvSpPr>
          <p:cNvPr id="15" name="Text 13"/>
          <p:cNvSpPr/>
          <p:nvPr/>
        </p:nvSpPr>
        <p:spPr>
          <a:xfrm>
            <a:off x="8394192" y="37947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 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validitas SSL &amp; masa berlaku sertifikat.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65008" y="4672584"/>
            <a:ext cx="182880" cy="182880"/>
          </a:xfrm>
          <a:prstGeom prst="ellipse">
            <a:avLst/>
          </a:prstGeom>
          <a:solidFill>
            <a:srgbClr val="1FA8D6"/>
          </a:solidFill>
          <a:ln/>
        </p:spPr>
      </p:sp>
      <p:sp>
        <p:nvSpPr>
          <p:cNvPr id="17" name="Text 15"/>
          <p:cNvSpPr/>
          <p:nvPr/>
        </p:nvSpPr>
        <p:spPr>
          <a:xfrm>
            <a:off x="8394192" y="4562856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Penjelasan  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 otomatis dalam bahasa awam.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899855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SPMT Monitoring Piket</a:t>
            </a:r>
            <a:pPr algn="r"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TAMPILAN ·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Server &amp; Jaringan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7040880" cy="4617720"/>
          </a:xfrm>
          <a:prstGeom prst="roundRect">
            <a:avLst>
              <a:gd name="adj" fmla="val 1584"/>
            </a:avLst>
          </a:prstGeom>
          <a:solidFill>
            <a:srgbClr val="E8F1F8"/>
          </a:solidFill>
          <a:ln w="19050">
            <a:solidFill>
              <a:srgbClr val="1FA8D6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3749040" y="3314700"/>
            <a:ext cx="640080" cy="640080"/>
          </a:xfrm>
          <a:prstGeom prst="ellipse">
            <a:avLst/>
          </a:prstGeom>
          <a:solidFill>
            <a:srgbClr val="1FA8D6"/>
          </a:solidFill>
          <a:ln/>
        </p:spPr>
      </p:sp>
      <p:sp>
        <p:nvSpPr>
          <p:cNvPr id="6" name="Text 4"/>
          <p:cNvSpPr/>
          <p:nvPr/>
        </p:nvSpPr>
        <p:spPr>
          <a:xfrm>
            <a:off x="3749040" y="33147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540" dirty="0"/>
          </a:p>
        </p:txBody>
      </p:sp>
      <p:sp>
        <p:nvSpPr>
          <p:cNvPr id="7" name="Text 5"/>
          <p:cNvSpPr/>
          <p:nvPr/>
        </p:nvSpPr>
        <p:spPr>
          <a:xfrm>
            <a:off x="731520" y="3991356"/>
            <a:ext cx="6675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Letakkan screenshot di sini
</a:t>
            </a:r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Kesehatan node pemantau itu sendiri
</a:t>
            </a:r>
            <a:pPr algn="ctr"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presentation/screenshots/04-server-monitor.png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818120" y="1572768"/>
            <a:ext cx="3822192" cy="4617720"/>
          </a:xfrm>
          <a:prstGeom prst="roundRect">
            <a:avLst>
              <a:gd name="adj" fmla="val 21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43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046720" y="18105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Ditampilkan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65008" y="2368296"/>
            <a:ext cx="182880" cy="182880"/>
          </a:xfrm>
          <a:prstGeom prst="ellipse">
            <a:avLst/>
          </a:prstGeom>
          <a:solidFill>
            <a:srgbClr val="1FA8D6"/>
          </a:solidFill>
          <a:ln/>
        </p:spPr>
      </p:sp>
      <p:sp>
        <p:nvSpPr>
          <p:cNvPr id="11" name="Text 9"/>
          <p:cNvSpPr/>
          <p:nvPr/>
        </p:nvSpPr>
        <p:spPr>
          <a:xfrm>
            <a:off x="8394192" y="225856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 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RAM, worker aktif, goroutine, koneksi WS.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65008" y="3136392"/>
            <a:ext cx="182880" cy="182880"/>
          </a:xfrm>
          <a:prstGeom prst="ellipse">
            <a:avLst/>
          </a:prstGeom>
          <a:solidFill>
            <a:srgbClr val="1FA8D6"/>
          </a:solidFill>
          <a:ln/>
        </p:spPr>
      </p:sp>
      <p:sp>
        <p:nvSpPr>
          <p:cNvPr id="13" name="Text 11"/>
          <p:cNvSpPr/>
          <p:nvPr/>
        </p:nvSpPr>
        <p:spPr>
          <a:xfrm>
            <a:off x="8394192" y="302666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Jaringan  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tipe koneksi, IP, gateway, DNS resolver.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65008" y="3904488"/>
            <a:ext cx="182880" cy="182880"/>
          </a:xfrm>
          <a:prstGeom prst="ellipse">
            <a:avLst/>
          </a:prstGeom>
          <a:solidFill>
            <a:srgbClr val="1FA8D6"/>
          </a:solidFill>
          <a:ln/>
        </p:spPr>
      </p:sp>
      <p:sp>
        <p:nvSpPr>
          <p:cNvPr id="15" name="Text 13"/>
          <p:cNvSpPr/>
          <p:nvPr/>
        </p:nvSpPr>
        <p:spPr>
          <a:xfrm>
            <a:off x="8394192" y="37947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 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kecepatan unduh/unggah node pemantau.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65008" y="4672584"/>
            <a:ext cx="182880" cy="182880"/>
          </a:xfrm>
          <a:prstGeom prst="ellipse">
            <a:avLst/>
          </a:prstGeom>
          <a:solidFill>
            <a:srgbClr val="1FA8D6"/>
          </a:solidFill>
          <a:ln/>
        </p:spPr>
      </p:sp>
      <p:sp>
        <p:nvSpPr>
          <p:cNvPr id="17" name="Text 15"/>
          <p:cNvSpPr/>
          <p:nvPr/>
        </p:nvSpPr>
        <p:spPr>
          <a:xfrm>
            <a:off x="8394192" y="4562856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 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 otomatis bila ada anomali.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899855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SPMT Monitoring Piket</a:t>
            </a:r>
            <a:pPr algn="r"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KERJA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Klasifikasi Status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8988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pengecekan diputuskan bertingkat: DNS → koneksi → kode HTTP → kecepatan respons.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8595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4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20240"/>
            <a:ext cx="146304" cy="914400"/>
          </a:xfrm>
          <a:prstGeom prst="roundRect">
            <a:avLst>
              <a:gd name="adj" fmla="val 31250"/>
            </a:avLst>
          </a:prstGeom>
          <a:solidFill>
            <a:srgbClr val="10B981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167128"/>
            <a:ext cx="420624" cy="42062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20391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2423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Sehat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0" y="19202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sukses + HTTP 200–399 + respons ≤ 2 detik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0" y="192024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
</a:t>
            </a:r>
            <a:pPr algn="ctr" indent="0" marL="0">
              <a:buNone/>
            </a:pPr>
            <a:r>
              <a:rPr lang="en-US" sz="15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48640" y="2944368"/>
            <a:ext cx="8595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4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944368"/>
            <a:ext cx="146304" cy="914400"/>
          </a:xfrm>
          <a:prstGeom prst="roundRect">
            <a:avLst>
              <a:gd name="adj" fmla="val 31250"/>
            </a:avLst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3191256"/>
            <a:ext cx="420624" cy="42062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1463040" y="3063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34472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 perhatian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57600" y="2944368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 lambat ( &gt; 2 detik ) atau HTTP 4xx (mis. 404)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0" y="2944368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
</a:t>
            </a:r>
            <a:pPr algn="ctr" indent="0" marL="0">
              <a:buNone/>
            </a:pPr>
            <a:r>
              <a:rPr lang="en-US" sz="15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55–70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48640" y="3968496"/>
            <a:ext cx="8595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43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968496"/>
            <a:ext cx="146304" cy="914400"/>
          </a:xfrm>
          <a:prstGeom prst="roundRect">
            <a:avLst>
              <a:gd name="adj" fmla="val 31250"/>
            </a:avLst>
          </a:prstGeom>
          <a:solidFill>
            <a:srgbClr val="EF4444"/>
          </a:solidFill>
          <a:ln/>
        </p:spPr>
      </p:sp>
      <p:sp>
        <p:nvSpPr>
          <p:cNvPr id="21" name="Shape 19"/>
          <p:cNvSpPr/>
          <p:nvPr/>
        </p:nvSpPr>
        <p:spPr>
          <a:xfrm>
            <a:off x="868680" y="4215384"/>
            <a:ext cx="420624" cy="42062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1463040" y="40873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63040" y="447141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Gangguan server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0" y="3968496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5xx (500/502/504) atau 403 Forbidden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0" y="3968496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
</a:t>
            </a:r>
            <a:pPr algn="ctr" indent="0" marL="0">
              <a:buNone/>
            </a:pPr>
            <a:r>
              <a:rPr lang="en-US" sz="15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48640" y="4992624"/>
            <a:ext cx="8595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43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" y="4992624"/>
            <a:ext cx="146304" cy="914400"/>
          </a:xfrm>
          <a:prstGeom prst="roundRect">
            <a:avLst>
              <a:gd name="adj" fmla="val 31250"/>
            </a:avLst>
          </a:prstGeom>
          <a:solidFill>
            <a:srgbClr val="DC2626"/>
          </a:solidFill>
          <a:ln/>
        </p:spPr>
      </p:sp>
      <p:sp>
        <p:nvSpPr>
          <p:cNvPr id="28" name="Shape 26"/>
          <p:cNvSpPr/>
          <p:nvPr/>
        </p:nvSpPr>
        <p:spPr>
          <a:xfrm>
            <a:off x="868680" y="5239512"/>
            <a:ext cx="420624" cy="42062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9" name="Text 27"/>
          <p:cNvSpPr/>
          <p:nvPr/>
        </p:nvSpPr>
        <p:spPr>
          <a:xfrm>
            <a:off x="1463040" y="511149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63040" y="549554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Terputus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657600" y="4992624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gagal, timeout, koneksi ditolak / reset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29600" y="4992624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
</a:t>
            </a:r>
            <a:pPr algn="ctr" indent="0" marL="0">
              <a:buNone/>
            </a:pPr>
            <a:r>
              <a:rPr lang="en-US" sz="15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9372600" y="1920240"/>
            <a:ext cx="2267712" cy="4096512"/>
          </a:xfrm>
          <a:prstGeom prst="roundRect">
            <a:avLst>
              <a:gd name="adj" fmla="val 4032"/>
            </a:avLst>
          </a:prstGeom>
          <a:solidFill>
            <a:srgbClr val="0A2A43"/>
          </a:solidFill>
          <a:ln/>
          <a:effectLst>
            <a:outerShdw sx="100000" sy="100000" kx="0" ky="0" algn="bl" rotWithShape="0" blurRad="114300" dist="38100" dir="5400000">
              <a:srgbClr val="0A2A43">
                <a:alpha val="1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0241280" y="2194560"/>
            <a:ext cx="548640" cy="548640"/>
          </a:xfrm>
          <a:prstGeom prst="ellipse">
            <a:avLst/>
          </a:prstGeom>
          <a:solidFill>
            <a:srgbClr val="1FA8D6"/>
          </a:solidFill>
          <a:ln/>
        </p:spPr>
      </p:sp>
      <p:sp>
        <p:nvSpPr>
          <p:cNvPr id="35" name="Text 33"/>
          <p:cNvSpPr/>
          <p:nvPr/>
        </p:nvSpPr>
        <p:spPr>
          <a:xfrm>
            <a:off x="1024128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1320" dirty="0"/>
          </a:p>
        </p:txBody>
      </p:sp>
      <p:sp>
        <p:nvSpPr>
          <p:cNvPr id="36" name="Text 34"/>
          <p:cNvSpPr/>
          <p:nvPr/>
        </p:nvSpPr>
        <p:spPr>
          <a:xfrm>
            <a:off x="9509760" y="2880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 False-Alarm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509760" y="3291840"/>
            <a:ext cx="2011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F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harus gagal 3× berturut-turut sebelum dilaporkan OFFLINE — supaya kedipan jaringan sesaat tidak memicu alarm palsu.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899855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SPMT Monitoring Piket</a:t>
            </a:r>
            <a:pPr algn="r"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Logika Penentu Status (Go)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7040880" cy="4617720"/>
          </a:xfrm>
          <a:prstGeom prst="roundRect">
            <a:avLst>
              <a:gd name="adj" fmla="val 1584"/>
            </a:avLst>
          </a:prstGeom>
          <a:solidFill>
            <a:srgbClr val="0B2740"/>
          </a:solidFill>
          <a:ln/>
          <a:effectLst>
            <a:outerShdw sx="100000" sy="100000" kx="0" ky="0" algn="bl" rotWithShape="0" blurRad="114300" dist="38100" dir="5400000">
              <a:srgbClr val="0A2A4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28800"/>
            <a:ext cx="164592" cy="16459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" y="1828800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80160" y="1828800"/>
            <a:ext cx="164592" cy="16459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00784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7F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pool.go  ·  Go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41248" y="2176272"/>
            <a:ext cx="64922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 classifyStatus(l *MonitoringLog) (Status, int) {
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!l.DNSResolved {
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8FB7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OFFLINE, 0      // domain tak ditemukan
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
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8FB7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l.ErrorMessage != "" {  // timeout / refused
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OFFLINE, 0
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
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switch {
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l.StatusCode &gt;= 500:
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F4B6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CRITICAL, 20    // server error 5xx
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l.StatusCode &gt;= 400:
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F6D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WARNING, 60     // client error 4xx
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l.ResponseTimeMs &gt; 2000:
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F6D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WARNING, 70     // lambat ( &gt; 2 dtk )
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default:
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7E3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ONLINE, 100     // sehat
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
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818120" y="1572768"/>
            <a:ext cx="3822192" cy="4617720"/>
          </a:xfrm>
          <a:prstGeom prst="roundRect">
            <a:avLst>
              <a:gd name="adj" fmla="val 21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43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46720" y="18105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Penjelasan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65008" y="2377440"/>
            <a:ext cx="182880" cy="182880"/>
          </a:xfrm>
          <a:prstGeom prst="ellipse">
            <a:avLst/>
          </a:prstGeom>
          <a:solidFill>
            <a:srgbClr val="1FA8D6"/>
          </a:solidFill>
          <a:ln/>
        </p:spPr>
      </p:sp>
      <p:sp>
        <p:nvSpPr>
          <p:cNvPr id="13" name="Text 11"/>
          <p:cNvSpPr/>
          <p:nvPr/>
        </p:nvSpPr>
        <p:spPr>
          <a:xfrm>
            <a:off x="8394192" y="226771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Berlapis: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dulu, lalu error koneksi, lalu kode HTTP, terakhir kecepatan.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65008" y="3218688"/>
            <a:ext cx="182880" cy="182880"/>
          </a:xfrm>
          <a:prstGeom prst="ellipse">
            <a:avLst/>
          </a:prstGeom>
          <a:solidFill>
            <a:srgbClr val="1FA8D6"/>
          </a:solidFill>
          <a:ln/>
        </p:spPr>
      </p:sp>
      <p:sp>
        <p:nvSpPr>
          <p:cNvPr id="15" name="Text 13"/>
          <p:cNvSpPr/>
          <p:nvPr/>
        </p:nvSpPr>
        <p:spPr>
          <a:xfrm>
            <a:off x="8394192" y="31089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Deterministik: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sama → hasil sama, gampang diuji otomatis.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65008" y="4059936"/>
            <a:ext cx="182880" cy="182880"/>
          </a:xfrm>
          <a:prstGeom prst="ellipse">
            <a:avLst/>
          </a:prstGeom>
          <a:solidFill>
            <a:srgbClr val="1FA8D6"/>
          </a:solidFill>
          <a:ln/>
        </p:spPr>
      </p:sp>
      <p:sp>
        <p:nvSpPr>
          <p:cNvPr id="17" name="Text 15"/>
          <p:cNvSpPr/>
          <p:nvPr/>
        </p:nvSpPr>
        <p:spPr>
          <a:xfrm>
            <a:off x="8394192" y="395020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2000 ms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WARNING: situs hidup tapi lambat, bukan langsung OFFLINE.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65008" y="4901184"/>
            <a:ext cx="182880" cy="182880"/>
          </a:xfrm>
          <a:prstGeom prst="ellipse">
            <a:avLst/>
          </a:prstGeom>
          <a:solidFill>
            <a:srgbClr val="1FA8D6"/>
          </a:solidFill>
          <a:ln/>
        </p:spPr>
      </p:sp>
      <p:sp>
        <p:nvSpPr>
          <p:cNvPr id="19" name="Text 17"/>
          <p:cNvSpPr/>
          <p:nvPr/>
        </p:nvSpPr>
        <p:spPr>
          <a:xfrm>
            <a:off x="8394192" y="4791456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 dipakai untuk health &amp; visual.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899855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SPMT Monitoring Piket</a:t>
            </a:r>
            <a:pPr algn="r"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Real-Time (WebSocket)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7040880" cy="4617720"/>
          </a:xfrm>
          <a:prstGeom prst="roundRect">
            <a:avLst>
              <a:gd name="adj" fmla="val 1584"/>
            </a:avLst>
          </a:prstGeom>
          <a:solidFill>
            <a:srgbClr val="0B2740"/>
          </a:solidFill>
          <a:ln/>
          <a:effectLst>
            <a:outerShdw sx="100000" sy="100000" kx="0" ky="0" algn="bl" rotWithShape="0" blurRad="114300" dist="38100" dir="5400000">
              <a:srgbClr val="0A2A4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28800"/>
            <a:ext cx="164592" cy="16459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" y="1828800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80160" y="1828800"/>
            <a:ext cx="164592" cy="16459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00784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7F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hub.go + WebSocketContext.jsx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41248" y="2176272"/>
            <a:ext cx="64922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7F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BACKEND (Go) — siarkan perubahan ke semua klien
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p.hub.Broadcast("monitor_update", payload)
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7F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FRONTEND (React) — terima tanpa refresh halaman
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useGlobalWebSocket((msg) =&gt; {
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(msg.type === "monitor_update") {
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7E3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updateNode(msg.payload)   // UI langsung
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
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
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8FB7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Satu koneksi WS dibagi ke seluruh komponen
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8FB7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indikator LIVE menyala saat socket terbuka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818120" y="1572768"/>
            <a:ext cx="3822192" cy="4617720"/>
          </a:xfrm>
          <a:prstGeom prst="roundRect">
            <a:avLst>
              <a:gd name="adj" fmla="val 21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43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46720" y="18105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Penjelasan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65008" y="2377440"/>
            <a:ext cx="182880" cy="182880"/>
          </a:xfrm>
          <a:prstGeom prst="ellipse">
            <a:avLst/>
          </a:prstGeom>
          <a:solidFill>
            <a:srgbClr val="1FA8D6"/>
          </a:solidFill>
          <a:ln/>
        </p:spPr>
      </p:sp>
      <p:sp>
        <p:nvSpPr>
          <p:cNvPr id="13" name="Text 11"/>
          <p:cNvSpPr/>
          <p:nvPr/>
        </p:nvSpPr>
        <p:spPr>
          <a:xfrm>
            <a:off x="8394192" y="226771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kirim 1 pesan ke semua browser sekaligus.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65008" y="3218688"/>
            <a:ext cx="182880" cy="182880"/>
          </a:xfrm>
          <a:prstGeom prst="ellipse">
            <a:avLst/>
          </a:prstGeom>
          <a:solidFill>
            <a:srgbClr val="1FA8D6"/>
          </a:solidFill>
          <a:ln/>
        </p:spPr>
      </p:sp>
      <p:sp>
        <p:nvSpPr>
          <p:cNvPr id="15" name="Text 13"/>
          <p:cNvSpPr/>
          <p:nvPr/>
        </p:nvSpPr>
        <p:spPr>
          <a:xfrm>
            <a:off x="8394192" y="31089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Berlangganan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update node tanpa reload.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65008" y="4059936"/>
            <a:ext cx="182880" cy="182880"/>
          </a:xfrm>
          <a:prstGeom prst="ellipse">
            <a:avLst/>
          </a:prstGeom>
          <a:solidFill>
            <a:srgbClr val="1FA8D6"/>
          </a:solidFill>
          <a:ln/>
        </p:spPr>
      </p:sp>
      <p:sp>
        <p:nvSpPr>
          <p:cNvPr id="17" name="Text 15"/>
          <p:cNvSpPr/>
          <p:nvPr/>
        </p:nvSpPr>
        <p:spPr>
          <a:xfrm>
            <a:off x="8394192" y="395020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koneksi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dibagi ke semua komponen — hemat &amp; konsisten.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65008" y="4901184"/>
            <a:ext cx="182880" cy="182880"/>
          </a:xfrm>
          <a:prstGeom prst="ellipse">
            <a:avLst/>
          </a:prstGeom>
          <a:solidFill>
            <a:srgbClr val="1FA8D6"/>
          </a:solidFill>
          <a:ln/>
        </p:spPr>
      </p:sp>
      <p:sp>
        <p:nvSpPr>
          <p:cNvPr id="19" name="Text 17"/>
          <p:cNvSpPr/>
          <p:nvPr/>
        </p:nvSpPr>
        <p:spPr>
          <a:xfrm>
            <a:off x="8394192" y="4791456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terasa hidup &amp; selalu mutakhir.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899855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SPMT Monitoring Piket</a:t>
            </a:r>
            <a:pPr algn="r"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Menangani Alarm Palsu (False Alarm)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17904"/>
            <a:ext cx="11091672" cy="1060704"/>
          </a:xfrm>
          <a:prstGeom prst="roundRect">
            <a:avLst>
              <a:gd name="adj" fmla="val 6897"/>
            </a:avLst>
          </a:prstGeom>
          <a:solidFill>
            <a:srgbClr val="FDECEC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773936"/>
            <a:ext cx="548640" cy="5486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7739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1508760" y="1664208"/>
            <a:ext cx="9921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Masalah: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beberapa situs (mis. Piket Direksi) muncul OFFLINE padahal sebenarnya hidup — servernya hanya lambat membuka koneksi, melebihi batas waktu pengecekan. Browser sabar menunggu, sistem tidak.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3584448" cy="292608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4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3172968"/>
            <a:ext cx="566928" cy="566928"/>
          </a:xfrm>
          <a:prstGeom prst="ellipse">
            <a:avLst/>
          </a:prstGeom>
          <a:solidFill>
            <a:srgbClr val="0E5A8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1729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64" dirty="0"/>
          </a:p>
        </p:txBody>
      </p:sp>
      <p:sp>
        <p:nvSpPr>
          <p:cNvPr id="11" name="Text 9"/>
          <p:cNvSpPr/>
          <p:nvPr/>
        </p:nvSpPr>
        <p:spPr>
          <a:xfrm>
            <a:off x="822960" y="3867912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dinaikkan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306824"/>
            <a:ext cx="3081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Batas tunggu koneksi 10 → 20 detik, agar situs lambat-tapi-hidup sempat menjawab dan dinilai WARNING, bukan OFFLINE.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07408" y="2880360"/>
            <a:ext cx="3584448" cy="292608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43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81728" y="317296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4681728" y="31729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64" dirty="0"/>
          </a:p>
        </p:txBody>
      </p:sp>
      <p:sp>
        <p:nvSpPr>
          <p:cNvPr id="16" name="Text 14"/>
          <p:cNvSpPr/>
          <p:nvPr/>
        </p:nvSpPr>
        <p:spPr>
          <a:xfrm>
            <a:off x="4681728" y="3867912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Konfirmasi 3×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81728" y="4306824"/>
            <a:ext cx="3081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baru dilaporkan OFFLINE setelah gagal 3 kali berturut-turut — kedipan sesaat tidak memicu alarm.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66176" y="2880360"/>
            <a:ext cx="3584448" cy="292608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43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540496" y="3172968"/>
            <a:ext cx="566928" cy="5669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8540496" y="31729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64" dirty="0"/>
          </a:p>
        </p:txBody>
      </p:sp>
      <p:sp>
        <p:nvSpPr>
          <p:cNvPr id="21" name="Text 19"/>
          <p:cNvSpPr/>
          <p:nvPr/>
        </p:nvSpPr>
        <p:spPr>
          <a:xfrm>
            <a:off x="8540496" y="3867912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 notifikasi pintar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540496" y="4306824"/>
            <a:ext cx="3081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koneksi internet node pemantau sendiri yang putus, alarm OFFLINE ditahan — karena verdict-nya tak bisa dipercaya.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Hasil: alarm jadi lebih akurat &amp; terpercaya — mengurangi gangguan notifikasi yang menyesatkan.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899855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SPMT Monitoring Piket</a:t>
            </a:r>
            <a:pPr algn="r"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&amp; Kesimpulan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4572000" cy="461772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43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83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Distribusi Status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2194560"/>
          <a:ext cx="43891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394960" y="1572768"/>
            <a:ext cx="6245352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43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669280" y="18105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Dicapai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87568" y="2368296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7"/>
          <p:cNvSpPr/>
          <p:nvPr/>
        </p:nvSpPr>
        <p:spPr>
          <a:xfrm>
            <a:off x="5687568" y="23682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1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616" dirty="0"/>
          </a:p>
        </p:txBody>
      </p:sp>
      <p:sp>
        <p:nvSpPr>
          <p:cNvPr id="11" name="Text 8"/>
          <p:cNvSpPr/>
          <p:nvPr/>
        </p:nvSpPr>
        <p:spPr>
          <a:xfrm>
            <a:off x="6089904" y="2276856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Pemantauan terpusat &amp; otomatis —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puluhan layanan terlihat dalam satu dashboard real-time.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687568" y="3145536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0"/>
          <p:cNvSpPr/>
          <p:nvPr/>
        </p:nvSpPr>
        <p:spPr>
          <a:xfrm>
            <a:off x="5687568" y="31455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1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616" dirty="0"/>
          </a:p>
        </p:txBody>
      </p:sp>
      <p:sp>
        <p:nvSpPr>
          <p:cNvPr id="14" name="Text 11"/>
          <p:cNvSpPr/>
          <p:nvPr/>
        </p:nvSpPr>
        <p:spPr>
          <a:xfrm>
            <a:off x="6089904" y="3054096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dini gangguan —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&amp; insiden tercatat begitu masalah terjadi.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687568" y="3922776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3"/>
          <p:cNvSpPr/>
          <p:nvPr/>
        </p:nvSpPr>
        <p:spPr>
          <a:xfrm>
            <a:off x="5687568" y="3922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1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616" dirty="0"/>
          </a:p>
        </p:txBody>
      </p:sp>
      <p:sp>
        <p:nvSpPr>
          <p:cNvPr id="17" name="Text 14"/>
          <p:cNvSpPr/>
          <p:nvPr/>
        </p:nvSpPr>
        <p:spPr>
          <a:xfrm>
            <a:off x="6089904" y="3831336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Diagnostik yang mudah dipahami —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akar masalah dijelaskan dalam bahasa awam.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687568" y="4700016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6"/>
          <p:cNvSpPr/>
          <p:nvPr/>
        </p:nvSpPr>
        <p:spPr>
          <a:xfrm>
            <a:off x="5687568" y="4700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1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616" dirty="0"/>
          </a:p>
        </p:txBody>
      </p:sp>
      <p:sp>
        <p:nvSpPr>
          <p:cNvPr id="20" name="Text 17"/>
          <p:cNvSpPr/>
          <p:nvPr/>
        </p:nvSpPr>
        <p:spPr>
          <a:xfrm>
            <a:off x="6089904" y="4608576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lebih akurat —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mekanisme anti false-alarm mengurangi peringatan palsu.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687568" y="5477256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19"/>
          <p:cNvSpPr/>
          <p:nvPr/>
        </p:nvSpPr>
        <p:spPr>
          <a:xfrm>
            <a:off x="5687568" y="54772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1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616" dirty="0"/>
          </a:p>
        </p:txBody>
      </p:sp>
      <p:sp>
        <p:nvSpPr>
          <p:cNvPr id="23" name="Text 20"/>
          <p:cNvSpPr/>
          <p:nvPr/>
        </p:nvSpPr>
        <p:spPr>
          <a:xfrm>
            <a:off x="6089904" y="5385816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Riwayat untuk evaluasi —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 &amp; SLA membantu menilai keandalan layanan.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8899855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SPMT Monitoring Piket</a:t>
            </a:r>
            <a:pPr algn="r"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A43">
              <a:alpha val="88000"/>
            </a:srgbClr>
          </a:solidFill>
          <a:ln/>
        </p:spPr>
      </p:sp>
      <p:pic>
        <p:nvPicPr>
          <p:cNvPr id="3" name="Image 0" descr="D:\Kuliah IT DEL\Magang\spmt-monitoring\frontend\public\images\logos\pelind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35728" y="1325880"/>
            <a:ext cx="822960" cy="822960"/>
          </a:xfrm>
          <a:prstGeom prst="rect">
            <a:avLst/>
          </a:prstGeom>
        </p:spPr>
      </p:pic>
      <p:pic>
        <p:nvPicPr>
          <p:cNvPr id="4" name="Image 1" descr="D:\Kuliah IT DEL\Magang\spmt-monitoring\frontend\public\images\logos\bum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95848" y="1325880"/>
            <a:ext cx="822960" cy="8229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0" y="251460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4800" dirty="0"/>
          </a:p>
        </p:txBody>
      </p:sp>
      <p:sp>
        <p:nvSpPr>
          <p:cNvPr id="6" name="Text 2"/>
          <p:cNvSpPr/>
          <p:nvPr/>
        </p:nvSpPr>
        <p:spPr>
          <a:xfrm>
            <a:off x="0" y="35204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F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SPMT Monitoring Piket  ·  PT Pelindo Multi Terminal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3718408" y="4297680"/>
            <a:ext cx="4754880" cy="566928"/>
          </a:xfrm>
          <a:prstGeom prst="roundRect">
            <a:avLst>
              <a:gd name="adj" fmla="val 50000"/>
            </a:avLst>
          </a:prstGeom>
          <a:solidFill>
            <a:srgbClr val="1FA8D6">
              <a:alpha val="90000"/>
            </a:srgbClr>
          </a:solidFill>
          <a:ln/>
        </p:spPr>
      </p:sp>
      <p:sp>
        <p:nvSpPr>
          <p:cNvPr id="8" name="Text 4"/>
          <p:cNvSpPr/>
          <p:nvPr/>
        </p:nvSpPr>
        <p:spPr>
          <a:xfrm>
            <a:off x="3718408" y="429768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Tanya Jawab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C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Lucky Siagian  ·  Institut Teknologi Del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PT Pelindo Multi Terminal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SPMT Monitoring — Sistem Monitoring Website</dc:title>
  <dc:subject>PptxGenJS Presentation</dc:subject>
  <dc:creator>Lucky Siagian</dc:creator>
  <cp:lastModifiedBy>Lucky Siagian</cp:lastModifiedBy>
  <cp:revision>1</cp:revision>
  <dcterms:created xsi:type="dcterms:W3CDTF">2026-06-21T12:28:10Z</dcterms:created>
  <dcterms:modified xsi:type="dcterms:W3CDTF">2026-06-21T12:28:10Z</dcterms:modified>
</cp:coreProperties>
</file>